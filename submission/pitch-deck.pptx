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3B4E8"/>
                </a:solidFill>
                <a:latin typeface="Arial"/>
              </a:rPr>
              <a:t>IBM Z DATATHON 2026  ·  TEAM CHINESE CAN FLY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Real-Time Transfer Scam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1A2433"/>
                </a:solidFill>
                <a:latin typeface="Arial"/>
              </a:rPr>
              <a:t>Stopping scam-driven transfers inside the bank's authorisation path,</a:t>
            </a:r>
          </a:p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1A2433"/>
                </a:solidFill>
                <a:latin typeface="Arial"/>
              </a:rPr>
              <a:t>before the money leaves.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611880"/>
            <a:ext cx="1051560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730A3"/>
                </a:solidFill>
                <a:latin typeface="Arial"/>
              </a:rPr>
              <a:t>Track: Real-Time AI for Critical Decisions   ·   Core principle: data analysed immediately → AI influences decisions while it matters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26280"/>
            <a:ext cx="3291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6A34A"/>
                </a:solidFill>
                <a:latin typeface="Arial"/>
              </a:rPr>
              <a:t>APPROVE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840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C6B80"/>
                </a:solidFill>
                <a:latin typeface="Arial"/>
              </a:rPr>
              <a:t>release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4526280"/>
            <a:ext cx="3291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4681728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D97706"/>
                </a:solidFill>
                <a:latin typeface="Arial"/>
              </a:rPr>
              <a:t>CONFIRM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50840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C6B80"/>
                </a:solidFill>
                <a:latin typeface="Arial"/>
              </a:rPr>
              <a:t>pause + alert the family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4526280"/>
            <a:ext cx="3291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4681728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DC2626"/>
                </a:solidFill>
                <a:latin typeface="Arial"/>
              </a:rPr>
              <a:t>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50840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C6B80"/>
                </a:solidFill>
                <a:latin typeface="Arial"/>
              </a:rPr>
              <a:t>hold + audit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C6B80"/>
                </a:solidFill>
                <a:latin typeface="Arial"/>
              </a:rPr>
              <a:t>Runs on IBM LinuxONE (s390x)  ·  Telum on-chip AI  ·  pervasive encryption  ·  container native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DC2626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Older people send the money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2514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2433"/>
                </a:solidFill>
                <a:latin typeface="Arial"/>
              </a:rPr>
              <a:t>Victim tricked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phone scam, hours of 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272" y="2066543"/>
            <a:ext cx="2926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5C6B80"/>
                </a:solidFill>
                <a:latin typeface="Arial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93592" y="1691640"/>
            <a:ext cx="2514600" cy="114300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C2626"/>
                </a:solidFill>
                <a:latin typeface="Arial"/>
              </a:rPr>
              <a:t>Transfer authorised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valid PIN, valid 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9904" y="2066543"/>
            <a:ext cx="2926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5C6B80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4" y="1691640"/>
            <a:ext cx="2514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2433"/>
                </a:solidFill>
                <a:latin typeface="Arial"/>
              </a:rPr>
              <a:t>Funds cleared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irreversible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0536" y="2066543"/>
            <a:ext cx="2926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5C6B80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34856" y="1691640"/>
            <a:ext cx="2514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2433"/>
                </a:solidFill>
                <a:latin typeface="Arial"/>
              </a:rPr>
              <a:t>Bank / family notice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too late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017520"/>
            <a:ext cx="10515600" cy="89611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127248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DC2626"/>
                </a:solidFill>
                <a:latin typeface="Arial"/>
              </a:rPr>
              <a:t>The only effective intervention point is the few seconds BEFORE authorisation.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474720"/>
            <a:ext cx="10058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3A3A"/>
                </a:solidFill>
                <a:latin typeface="Arial"/>
              </a:rPr>
              <a:t>$4.885 billion reported lost by older Americans in 2024 across 147,127 complaints, up 43% on 2023.  FBI IC3, 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133087"/>
            <a:ext cx="32918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279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It looks normal to the bank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6634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Valid credentials, valid device, correct PIN. Nothing in the payment itself is anomalous.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4133087"/>
            <a:ext cx="32918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4279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Existing systems target card fraud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6634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They detect misuse after the fact. They are not built for a customer being talked into paying right now.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133087"/>
            <a:ext cx="32918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79" y="4279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The family is never involved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6634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 adult children who could actually stop it have no way in.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Three outcomes, decided in the authorisation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3291840" cy="25146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82880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6A34A"/>
                </a:solidFill>
                <a:latin typeface="Arial"/>
              </a:rPr>
              <a:t>APPROVE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304288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2433"/>
                </a:solidFill>
                <a:latin typeface="Arial"/>
              </a:rPr>
              <a:t>Release immediately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80360"/>
            <a:ext cx="2788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Risk below 0.55.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No friction added to normal payments.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291840" cy="251460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82880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D97706"/>
                </a:solidFill>
                <a:latin typeface="Arial"/>
              </a:rPr>
              <a:t>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2433"/>
                </a:solidFill>
                <a:latin typeface="Arial"/>
              </a:rPr>
              <a:t>Pause · message the holder · alert the family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80360"/>
            <a:ext cx="2788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Risk 0.55–0.95.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The holder gets plain language.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If the amount exceeds the guardian limit,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a linked relative is alerted too.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645920"/>
            <a:ext cx="3291840" cy="25146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1" y="182880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DC2626"/>
                </a:solidFill>
                <a:latin typeface="Arial"/>
              </a:rPr>
              <a:t>BLOCK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1" y="2304288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2433"/>
                </a:solidFill>
                <a:latin typeface="Arial"/>
              </a:rPr>
              <a:t>Hold and record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880360"/>
            <a:ext cx="2788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Risk above 0.95.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Transfer held; an auditable record is written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with reason codes.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70832"/>
            <a:ext cx="10515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262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3AED"/>
                </a:solidFill>
                <a:latin typeface="Arial"/>
              </a:rPr>
              <a:t>The part nobody else 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73752"/>
            <a:ext cx="4846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CONFIRM pauses the transfer and brings in the one person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who can end the call: the family.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5262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3AED"/>
                </a:solidFill>
                <a:latin typeface="Arial"/>
              </a:rPr>
              <a:t>Every decision is auditable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73752"/>
            <a:ext cx="4846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Nine reason codes (R01–R09) travel with each decision,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so a case can be reviewed and the model audited later.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Two models, one decision, ~22 ms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1328"/>
            <a:ext cx="11201400" cy="6343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14476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C6B80"/>
                </a:solidFill>
                <a:latin typeface="Arial"/>
              </a:rPr>
              <a:t>Decision and explanation are decoupled: the decision returns in ~22 ms, while IBM Granite explains asynchronously.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THE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This is the screen, running on LinuxONE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371600"/>
            <a:ext cx="9022080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C6B80"/>
                </a:solidFill>
                <a:latin typeface="Arial"/>
              </a:rPr>
              <a:t>Every row is a live decision. Right lane: the plain-language message the holder sees, and the alert the linked relative receives.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C3AED"/>
                </a:solidFill>
                <a:latin typeface="Arial"/>
              </a:rPr>
              <a:t>WHY IBM Z / LINUXONE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Not an x86 app ported 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9280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Telum on-chip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5000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Both models and the Granite LLM run on the same processor.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 accelerator sits on the same die as the CPU, which is why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 decision stays fast even while the LLM generates.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9164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9280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Pervasive encryption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5000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Data encrypted at rest and in transit by the platform,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quantum-safe. Scam detection must read sensitive transfer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and identity context, so this is a prerequisite.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4048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Data never leaves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9884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Granite is served locally by llama.cpp with the zDNN/NNPA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backend. No external API calls. No customer data leaves the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enterprise perimeter.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84048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0416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Container native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49884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Shipped as a Docker image built on IBM's s390x AI/ML base image.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One command to deploy; health-checked and restart-safe.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6A34A"/>
                </a:solidFill>
                <a:latin typeface="Arial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Measured on the LinuxONE instance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A34A"/>
                </a:solidFill>
                <a:latin typeface="Arial"/>
              </a:rPr>
              <a:t>65.2 %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fraud recall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A34A"/>
                </a:solidFill>
                <a:latin typeface="Arial"/>
              </a:rPr>
              <a:t>96.7 %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precision on stops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563EB"/>
                </a:solidFill>
                <a:latin typeface="Arial"/>
              </a:rPr>
              <a:t>22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median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1656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97706"/>
                </a:solidFill>
                <a:latin typeface="Arial"/>
              </a:rPr>
              <a:t>$18,418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656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amount recovered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12724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2433"/>
                </a:solidFill>
                <a:latin typeface="Arial"/>
              </a:rPr>
              <a:t>Offline model quality  (held-out test, 0.11 % positives)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822960" y="3520440"/>
          <a:ext cx="5486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PR-AUC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Best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LSTM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0.3829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0.9293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0.478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XGBoost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0.0765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0.9411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0.161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Fusion (0.85 / 0.15)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0.4277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0.9654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0.506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0" y="3127248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2433"/>
                </a:solidFill>
                <a:latin typeface="Arial"/>
              </a:rPr>
              <a:t>Why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2044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Every single model leaves money on the table: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/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· XGBoost alone catches few frauds at usable precision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· LSTM alone misses structured signals such as amount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  versus the account's own history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· The fusion beats both on PR-AUC and on F1, which is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  exactly why two frameworks are used rather than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C6B80"/>
                </a:solidFill>
                <a:latin typeface="Arial"/>
              </a:rPr>
              <a:t>587 replayed transfers (single reproducible pass)  ·  3 vCPU + 1 AI accelerator  ·  587-transfer curated stream including 271 labelled frauds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D97706"/>
                </a:solidFill>
                <a:latin typeface="Arial"/>
              </a:rPr>
              <a:t>WHO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Four audiences, in order of directness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64208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883664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47672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Older adults targeted by scams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39696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They act alone and often cannot stop themselves in time. The system pauses the transfer and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offers a plain way to say "I am not sure" instead of losing their savings.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88920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3008376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72384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935224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Adult children living 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264408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They cannot watch every transfer. They set a guardian limit and get an actionable alert,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turning distant worry into a decision they can make from their phone.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913632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4133088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197096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059936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Banks and payment providers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43891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Fewer scam losses and complaints, plus a defensible audit record for regulators. The engine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sits in the authorisation path, so it cuts loss without slowing genuine payments.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38344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5257800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21807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7632" y="5184648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Anti-fraud teams and regulators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513831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Every decision carries reason codes. Cases can be reviewed later and the model audited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over time, which most regulated markets require.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5C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C6B80"/>
                </a:solidFill>
                <a:latin typeface="Arial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What this prototype is and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5120640" cy="333756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1051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6A34A"/>
                </a:solidFill>
                <a:latin typeface="Arial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Streams transfers and scores each one in ~22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Three-way decision with reason codes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90672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Plain-language message for the 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29584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Guardian alert when the limit is exceeded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8496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Fully containerised, runs on LinuxONE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0740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Granite explanations generated locally, no API calls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645920"/>
            <a:ext cx="5120640" cy="333756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1051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7706"/>
                </a:solidFill>
                <a:latin typeface="Arial"/>
              </a:rPr>
              <a:t>What it does not do (yet)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1284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No live bank core integration; the stream is historical replay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5176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Guardian notification is simulated, not a real SMS gateway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090672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No production load testing at peak volume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29584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Age and guardian fields are a synthetic scenario overlay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968496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onnxruntime has no s390x wheel, so ONNX is export-only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330952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730A3"/>
                </a:solidFill>
                <a:latin typeface="Arial"/>
              </a:rPr>
              <a:t>Next 30 days: swap the replay for the bank's authorisation feed, connect a real notification provider, and run IEEE-CIS + PaySim as the production corpus with time-drift and fairness checks.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
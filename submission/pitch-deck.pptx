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0F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3B4E8"/>
                </a:solidFill>
                <a:latin typeface="Arial"/>
              </a:rPr>
              <a:t>IBM Z DATATHON 2026  ·  TEAM CHINESE CAN FLY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Real-Time Transfer Scam 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1A2433"/>
                </a:solidFill>
                <a:latin typeface="Arial"/>
              </a:rPr>
              <a:t>Stopping scam-driven transfers inside the bank's authorisation path,</a:t>
            </a:r>
          </a:p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1A2433"/>
                </a:solidFill>
                <a:latin typeface="Arial"/>
              </a:rPr>
              <a:t>before the money leaves.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611880"/>
            <a:ext cx="1051560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4903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730A3"/>
                </a:solidFill>
                <a:latin typeface="Arial"/>
              </a:rPr>
              <a:t>Track: Real-Time AI for Critical Decisions   ·   Core principle: data analysed immediately → AI influences decisions while it matters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526280"/>
            <a:ext cx="3291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681728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6A34A"/>
                </a:solidFill>
                <a:latin typeface="Arial"/>
              </a:rPr>
              <a:t>APPROVE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084064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C6B80"/>
                </a:solidFill>
                <a:latin typeface="Arial"/>
              </a:rPr>
              <a:t>release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4526280"/>
            <a:ext cx="3291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4681728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D97706"/>
                </a:solidFill>
                <a:latin typeface="Arial"/>
              </a:rPr>
              <a:t>CONFIRM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5084064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C6B80"/>
                </a:solidFill>
                <a:latin typeface="Arial"/>
              </a:rPr>
              <a:t>pause + alert the family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79" y="4526280"/>
            <a:ext cx="3291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79" y="4681728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DC2626"/>
                </a:solidFill>
                <a:latin typeface="Arial"/>
              </a:rPr>
              <a:t>BLOCK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5084064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C6B80"/>
                </a:solidFill>
                <a:latin typeface="Arial"/>
              </a:rPr>
              <a:t>hold + audit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C6B80"/>
                </a:solidFill>
                <a:latin typeface="Arial"/>
              </a:rPr>
              <a:t>Runs on IBM LinuxONE (s390x)  ·  Telum on-chip AI  ·  pervasive encryption  ·  container native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515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DC2626"/>
                </a:solidFill>
                <a:latin typeface="Arial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2433"/>
                </a:solidFill>
                <a:latin typeface="Arial"/>
              </a:rPr>
              <a:t>Older people send the money themselves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2514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4708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2433"/>
                </a:solidFill>
                <a:latin typeface="Arial"/>
              </a:rPr>
              <a:t>Victim tricked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phone scam, hours of pressure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9272" y="2066543"/>
            <a:ext cx="29260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5C6B80"/>
                </a:solidFill>
                <a:latin typeface="Arial"/>
              </a:rPr>
              <a:t>›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93592" y="1691640"/>
            <a:ext cx="2514600" cy="1143000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6472" y="184708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DC2626"/>
                </a:solidFill>
                <a:latin typeface="Arial"/>
              </a:rPr>
              <a:t>Transfer authorised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6472" y="224028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valid PIN, valid device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9904" y="2066543"/>
            <a:ext cx="29260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5C6B80"/>
                </a:solidFill>
                <a:latin typeface="Arial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4224" y="1691640"/>
            <a:ext cx="2514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47104" y="184708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2433"/>
                </a:solidFill>
                <a:latin typeface="Arial"/>
              </a:rPr>
              <a:t>Funds cleared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24028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irreversible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0536" y="2066543"/>
            <a:ext cx="29260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5C6B80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34856" y="1691640"/>
            <a:ext cx="2514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17736" y="184708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2433"/>
                </a:solidFill>
                <a:latin typeface="Arial"/>
              </a:rPr>
              <a:t>Bank / family notice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7736" y="224028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too late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127248"/>
            <a:ext cx="10515600" cy="56692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326440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DC2626"/>
                </a:solidFill>
                <a:latin typeface="Arial"/>
              </a:rPr>
              <a:t>The only effective intervention point is the few seconds BEFORE authorisation.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977639"/>
            <a:ext cx="32918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416052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2433"/>
                </a:solidFill>
                <a:latin typeface="Arial"/>
              </a:rPr>
              <a:t>It looks normal to the bank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55371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Valid credentials, valid device, correct PIN. Nothing in the payment itself is anomalous.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977639"/>
            <a:ext cx="32918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416052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2433"/>
                </a:solidFill>
                <a:latin typeface="Arial"/>
              </a:rPr>
              <a:t>Existing systems target card fraud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455371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They detect misuse after the fact. They are not built for a customer being talked into paying right now.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79" y="3977639"/>
            <a:ext cx="32918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79" y="416052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2433"/>
                </a:solidFill>
                <a:latin typeface="Arial"/>
              </a:rPr>
              <a:t>The family is never involved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79" y="455371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The adult children who could actually stop it have no way in.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7315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Real-Time Transfer Scam Guard  ·  Chinese Can Fly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419088"/>
            <a:ext cx="914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515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563EB"/>
                </a:solidFill>
                <a:latin typeface="Arial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2433"/>
                </a:solidFill>
                <a:latin typeface="Arial"/>
              </a:rPr>
              <a:t>Three outcomes, decided in the authorisation 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45920"/>
            <a:ext cx="3291840" cy="251460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1828800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6A34A"/>
                </a:solidFill>
                <a:latin typeface="Arial"/>
              </a:rPr>
              <a:t>APPROVE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304288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A2433"/>
                </a:solidFill>
                <a:latin typeface="Arial"/>
              </a:rPr>
              <a:t>Release immediately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80360"/>
            <a:ext cx="2788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Risk below 0.55.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No friction added to normal payments.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645920"/>
            <a:ext cx="3291840" cy="2514600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828800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D97706"/>
                </a:solidFill>
                <a:latin typeface="Arial"/>
              </a:rPr>
              <a:t>CONFIRM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304288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A2433"/>
                </a:solidFill>
                <a:latin typeface="Arial"/>
              </a:rPr>
              <a:t>Pause · message the holder · alert the family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880360"/>
            <a:ext cx="2788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Risk 0.55–0.95.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The holder gets plain language.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If the amount exceeds the guardian limit,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a linked relative is alerted too.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1645920"/>
            <a:ext cx="3291840" cy="251460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1" y="1828800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DC2626"/>
                </a:solidFill>
                <a:latin typeface="Arial"/>
              </a:rPr>
              <a:t>BLOCK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1" y="2304288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A2433"/>
                </a:solidFill>
                <a:latin typeface="Arial"/>
              </a:rPr>
              <a:t>Hold and record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2880360"/>
            <a:ext cx="2788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Risk above 0.95.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Transfer held; an auditable record is written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with reason codes.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70832"/>
            <a:ext cx="105156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2628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3AED"/>
                </a:solidFill>
                <a:latin typeface="Arial"/>
              </a:rPr>
              <a:t>The part nobody else does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873752"/>
            <a:ext cx="4846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433"/>
                </a:solidFill>
                <a:latin typeface="Arial"/>
              </a:rPr>
              <a:t>CONFIRM pauses the transfer and brings in the one person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433"/>
                </a:solidFill>
                <a:latin typeface="Arial"/>
              </a:rPr>
              <a:t>who can end the call: the family.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52628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3AED"/>
                </a:solidFill>
                <a:latin typeface="Arial"/>
              </a:rPr>
              <a:t>Every decision is auditable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873752"/>
            <a:ext cx="4846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433"/>
                </a:solidFill>
                <a:latin typeface="Arial"/>
              </a:rPr>
              <a:t>Nine reason codes (R01–R09) travel with each decision,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433"/>
                </a:solidFill>
                <a:latin typeface="Arial"/>
              </a:rPr>
              <a:t>so a case can be reviewed and the model audited later.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19088"/>
            <a:ext cx="7315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Real-Time Transfer Scam Guard  ·  Chinese Can Fly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19088"/>
            <a:ext cx="914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515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563EB"/>
                </a:solidFill>
                <a:latin typeface="Arial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2433"/>
                </a:solidFill>
                <a:latin typeface="Arial"/>
              </a:rPr>
              <a:t>Two models, one decision, ~22 ms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81328"/>
            <a:ext cx="11201400" cy="63436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14476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C6B80"/>
                </a:solidFill>
                <a:latin typeface="Arial"/>
              </a:rPr>
              <a:t>Decision and explanation are decoupled: the decision returns in ~22 ms, while IBM Granite explains asynchronously.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7315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Real-Time Transfer Scam Guard  ·  Chinese Can Fly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19088"/>
            <a:ext cx="914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515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563EB"/>
                </a:solidFill>
                <a:latin typeface="Arial"/>
              </a:rPr>
              <a:t>THE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2433"/>
                </a:solidFill>
                <a:latin typeface="Arial"/>
              </a:rPr>
              <a:t>This is the screen, running on LinuxONE</a:t>
            </a:r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371600"/>
            <a:ext cx="9022080" cy="5074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C6B80"/>
                </a:solidFill>
                <a:latin typeface="Arial"/>
              </a:rPr>
              <a:t>Every row is a live decision. Right lane: the plain-language message the holder sees, and the alert the linked relative receives.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7315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Real-Time Transfer Scam Guard  ·  Chinese Can Fly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19088"/>
            <a:ext cx="914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515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C3AED"/>
                </a:solidFill>
                <a:latin typeface="Arial"/>
              </a:rPr>
              <a:t>WHY IBM Z / LINUXONE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2433"/>
                </a:solidFill>
                <a:latin typeface="Arial"/>
              </a:rPr>
              <a:t>Not an x86 app ported 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512064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9280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7C3AED"/>
                </a:solidFill>
                <a:latin typeface="Arial"/>
              </a:rPr>
              <a:t>Telum on-chip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50008"/>
            <a:ext cx="4572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Both models and the Granite LLM run on the same processor.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The accelerator sits on the same die as the CPU, which is why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the decision stays fast even while the LLM generates.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691640"/>
            <a:ext cx="512064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89280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7C3AED"/>
                </a:solidFill>
                <a:latin typeface="Arial"/>
              </a:rPr>
              <a:t>Pervasive encryption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350008"/>
            <a:ext cx="4572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Data encrypted at rest and in transit by the platform,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quantum-safe. Scam detection must read sensitive transfer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and identity context, so this is a prerequisite.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840480"/>
            <a:ext cx="512064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4164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7C3AED"/>
                </a:solidFill>
                <a:latin typeface="Arial"/>
              </a:rPr>
              <a:t>Data never leaves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498848"/>
            <a:ext cx="4572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Granite is served locally by llama.cpp with the zDNN/NNPA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backend. No external API calls. No customer data leaves the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enterprise perimeter.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840480"/>
            <a:ext cx="512064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404164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7C3AED"/>
                </a:solidFill>
                <a:latin typeface="Arial"/>
              </a:rPr>
              <a:t>Container native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498848"/>
            <a:ext cx="4572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Shipped as a Docker image built on IBM's s390x AI/ML base image.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One command to deploy; health-checked and restart-safe.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19088"/>
            <a:ext cx="7315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Real-Time Transfer Scam Guard  ·  Chinese Can Fly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19088"/>
            <a:ext cx="914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515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6A34A"/>
                </a:solidFill>
                <a:latin typeface="Arial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2433"/>
                </a:solidFill>
                <a:latin typeface="Arial"/>
              </a:rPr>
              <a:t>Measured on the LinuxONE instance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45920"/>
            <a:ext cx="24688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10512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A34A"/>
                </a:solidFill>
                <a:latin typeface="Arial"/>
              </a:rPr>
              <a:t>65.2 %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395728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6B80"/>
                </a:solidFill>
                <a:latin typeface="Arial"/>
              </a:rPr>
              <a:t>fraud recall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645920"/>
            <a:ext cx="24688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21608" y="1810512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A34A"/>
                </a:solidFill>
                <a:latin typeface="Arial"/>
              </a:rPr>
              <a:t>96.7 %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1608" y="2395728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6B80"/>
                </a:solidFill>
                <a:latin typeface="Arial"/>
              </a:rPr>
              <a:t>precision on stops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645920"/>
            <a:ext cx="24688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1810512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563EB"/>
                </a:solidFill>
                <a:latin typeface="Arial"/>
              </a:rPr>
              <a:t>22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395728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6B80"/>
                </a:solidFill>
                <a:latin typeface="Arial"/>
              </a:rPr>
              <a:t>median decision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1645920"/>
            <a:ext cx="24688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16568" y="1810512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D97706"/>
                </a:solidFill>
                <a:latin typeface="Arial"/>
              </a:rPr>
              <a:t>$18,418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6568" y="2395728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6B80"/>
                </a:solidFill>
                <a:latin typeface="Arial"/>
              </a:rPr>
              <a:t>amount recovered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12724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A2433"/>
                </a:solidFill>
                <a:latin typeface="Arial"/>
              </a:rPr>
              <a:t>Offline model quality  (held-out test, 0.11 % positives)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822960" y="3520440"/>
          <a:ext cx="5486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433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433"/>
                          </a:solidFill>
                          <a:latin typeface="Arial"/>
                        </a:rPr>
                        <a:t>PR-AUC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433"/>
                          </a:solidFill>
                          <a:latin typeface="Arial"/>
                        </a:rP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433"/>
                          </a:solidFill>
                          <a:latin typeface="Arial"/>
                        </a:rPr>
                        <a:t>Best F1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C6B80"/>
                          </a:solidFill>
                          <a:latin typeface="Arial"/>
                        </a:rPr>
                        <a:t>LSTM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C6B80"/>
                          </a:solidFill>
                          <a:latin typeface="Arial"/>
                        </a:rPr>
                        <a:t>0.3829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C6B80"/>
                          </a:solidFill>
                          <a:latin typeface="Arial"/>
                        </a:rPr>
                        <a:t>0.9293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C6B80"/>
                          </a:solidFill>
                          <a:latin typeface="Arial"/>
                        </a:rPr>
                        <a:t>0.478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C6B80"/>
                          </a:solidFill>
                          <a:latin typeface="Arial"/>
                        </a:rPr>
                        <a:t>XGBoost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C6B80"/>
                          </a:solidFill>
                          <a:latin typeface="Arial"/>
                        </a:rPr>
                        <a:t>0.0765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C6B80"/>
                          </a:solidFill>
                          <a:latin typeface="Arial"/>
                        </a:rPr>
                        <a:t>0.9411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C6B80"/>
                          </a:solidFill>
                          <a:latin typeface="Arial"/>
                        </a:rPr>
                        <a:t>0.161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433"/>
                          </a:solidFill>
                          <a:latin typeface="Arial"/>
                        </a:rPr>
                        <a:t>Fusion (0.85 / 0.15)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433"/>
                          </a:solidFill>
                          <a:latin typeface="Arial"/>
                        </a:rPr>
                        <a:t>0.4277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433"/>
                          </a:solidFill>
                          <a:latin typeface="Arial"/>
                        </a:rPr>
                        <a:t>0.9654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433"/>
                          </a:solidFill>
                          <a:latin typeface="Arial"/>
                        </a:rPr>
                        <a:t>0.506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0" y="3127248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A2433"/>
                </a:solidFill>
                <a:latin typeface="Arial"/>
              </a:rPr>
              <a:t>Why fusion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520440"/>
            <a:ext cx="46634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Every single model leaves money on the table:</a:t>
            </a:r>
          </a:p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/>
            </a:r>
          </a:p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· XGBoost alone catches few frauds at usable precision</a:t>
            </a:r>
          </a:p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· LSTM alone misses structured signals such as amount</a:t>
            </a:r>
          </a:p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  versus the account's own history</a:t>
            </a:r>
          </a:p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· The fusion beats both on PR-AUC and on F1, which is</a:t>
            </a:r>
          </a:p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  exactly why two frameworks are used rather than one.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80644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C6B80"/>
                </a:solidFill>
                <a:latin typeface="Arial"/>
              </a:rPr>
              <a:t>587 replayed transfers (single reproducible pass)  ·  3 vCPU + 1 AI accelerator  ·  587-transfer curated stream including 271 labelled frauds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19088"/>
            <a:ext cx="7315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Real-Time Transfer Scam Guard  ·  Chinese Can Fly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19088"/>
            <a:ext cx="914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515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D97706"/>
                </a:solidFill>
                <a:latin typeface="Arial"/>
              </a:rPr>
              <a:t>WHO 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2433"/>
                </a:solidFill>
                <a:latin typeface="Arial"/>
              </a:rPr>
              <a:t>Four audiences, in order of directness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64208"/>
            <a:ext cx="105156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1560" y="1883664"/>
            <a:ext cx="384048" cy="3840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47672"/>
            <a:ext cx="384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1810512"/>
            <a:ext cx="9418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2433"/>
                </a:solidFill>
                <a:latin typeface="Arial"/>
              </a:rPr>
              <a:t>Older adults targeted by scams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139696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They act alone and often cannot stop themselves in time. The system pauses the transfer and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offers a plain way to say "I am not sure" instead of losing their savings.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788920"/>
            <a:ext cx="105156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3008376"/>
            <a:ext cx="384048" cy="3840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72384"/>
            <a:ext cx="384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935224"/>
            <a:ext cx="9418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2433"/>
                </a:solidFill>
                <a:latin typeface="Arial"/>
              </a:rPr>
              <a:t>Adult children living away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264408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They cannot watch every transfer. They set a guardian limit and get an actionable alert,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turning distant worry into a decision they can make from their phone.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913632"/>
            <a:ext cx="105156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1560" y="4133088"/>
            <a:ext cx="384048" cy="3840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197096"/>
            <a:ext cx="384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4059936"/>
            <a:ext cx="9418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2433"/>
                </a:solidFill>
                <a:latin typeface="Arial"/>
              </a:rPr>
              <a:t>Banks and payment providers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438912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Fewer scam losses and complaints, plus a defensible audit record for regulators. The engine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sits in the authorisation path, so it cuts loss without slowing genuine payments.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38344"/>
            <a:ext cx="105156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51560" y="5257800"/>
            <a:ext cx="384048" cy="3840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21807"/>
            <a:ext cx="384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27632" y="5184648"/>
            <a:ext cx="9418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2433"/>
                </a:solidFill>
                <a:latin typeface="Arial"/>
              </a:rPr>
              <a:t>Anti-fraud teams and regulators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5513831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Every decision carries reason codes. Cases can be reviewed later and the model audited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over time, which most regulated markets require.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19088"/>
            <a:ext cx="7315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Real-Time Transfer Scam Guard  ·  Chinese Can Fly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419088"/>
            <a:ext cx="914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5C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515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C6B80"/>
                </a:solidFill>
                <a:latin typeface="Arial"/>
              </a:rPr>
              <a:t>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2433"/>
                </a:solidFill>
                <a:latin typeface="Arial"/>
              </a:rPr>
              <a:t>What this prototype is and is 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45920"/>
            <a:ext cx="5120640" cy="333756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1051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6A34A"/>
                </a:solidFill>
                <a:latin typeface="Arial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12848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Streams transfers and scores each one in ~22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Three-way decision with reason codes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90672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Plain-language message for the holder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29584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Guardian alert when the limit is exceeded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68496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Fully containerised, runs on LinuxONE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07408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Granite explanations generated locally, no API calls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645920"/>
            <a:ext cx="5120640" cy="3337560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81051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D97706"/>
                </a:solidFill>
                <a:latin typeface="Arial"/>
              </a:rPr>
              <a:t>What it does not do (yet)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212848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No live bank core integration; the stream is historical replay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651760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Guardian notification is simulated, not a real SMS gateway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090672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No production load testing at peak volume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529584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Age and guardian fields are a synthetic scenario overlay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968496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onnxruntime has no s390x wheel, so ONNX is export-only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166360"/>
            <a:ext cx="10515600" cy="822960"/>
          </a:xfrm>
          <a:prstGeom prst="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330952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3730A3"/>
                </a:solidFill>
                <a:latin typeface="Arial"/>
              </a:rPr>
              <a:t>Next 30 days: swap the replay for the bank's authorisation feed, connect a real notification provider, and run IEEE-CIS + PaySim as the production corpus with time-drift and fairness checks.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19088"/>
            <a:ext cx="7315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Real-Time Transfer Scam Guard  ·  Chinese Can Fly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19088"/>
            <a:ext cx="914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
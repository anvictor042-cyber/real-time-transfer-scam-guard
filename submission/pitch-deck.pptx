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0F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93B4E8"/>
                </a:solidFill>
                <a:latin typeface="Arial"/>
              </a:rPr>
              <a:t>IBM Z DATATHON 2026  ·  TEAM CHINESE CAN FLY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Arial"/>
              </a:rPr>
              <a:t>Real-Time Transfer Scam 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A2433"/>
                </a:solidFill>
                <a:latin typeface="Arial"/>
              </a:rPr>
              <a:t>Stopping scam-driven transfers inside the bank's authorisation path —</a:t>
            </a:r>
          </a:p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1A2433"/>
                </a:solidFill>
                <a:latin typeface="Arial"/>
              </a:rPr>
              <a:t>before the money leaves.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611880"/>
            <a:ext cx="1051560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749039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3730A3"/>
                </a:solidFill>
                <a:latin typeface="Arial"/>
              </a:rPr>
              <a:t>Track: Real-Time AI for Critical Decisions   ·   Core principle: data analysed immediately → AI influences decisions while it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52628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68172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16A34A"/>
                </a:solidFill>
                <a:latin typeface="Arial"/>
              </a:rPr>
              <a:t>APPROVE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50840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C6B80"/>
                </a:solidFill>
                <a:latin typeface="Arial"/>
              </a:rPr>
              <a:t>release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452628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468172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97706"/>
                </a:solidFill>
                <a:latin typeface="Arial"/>
              </a:rPr>
              <a:t>CONFIRM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50840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C6B80"/>
                </a:solidFill>
                <a:latin typeface="Arial"/>
              </a:rPr>
              <a:t>pause + alert the family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452628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468172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DC2626"/>
                </a:solidFill>
                <a:latin typeface="Arial"/>
              </a:rPr>
              <a:t>BLOCK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5084064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C6B80"/>
                </a:solidFill>
                <a:latin typeface="Arial"/>
              </a:rPr>
              <a:t>hold + audit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6B80"/>
                </a:solidFill>
                <a:latin typeface="Arial"/>
              </a:rPr>
              <a:t>Runs on IBM LinuxONE (s390x)  ·  Telum on-chip AI  ·  pervasive encryption  ·  container native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C2626"/>
                </a:solidFill>
                <a:latin typeface="Arial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2433"/>
                </a:solidFill>
                <a:latin typeface="Arial"/>
              </a:rPr>
              <a:t>Older people send the money themselves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2514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470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2433"/>
                </a:solidFill>
                <a:latin typeface="Arial"/>
              </a:rPr>
              <a:t>Victim tricked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phone scam, hours of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2066543"/>
            <a:ext cx="292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5C6B80"/>
                </a:solidFill>
                <a:latin typeface="Arial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3592" y="1691640"/>
            <a:ext cx="2514600" cy="11430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6472" y="18470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C2626"/>
                </a:solidFill>
                <a:latin typeface="Arial"/>
              </a:rPr>
              <a:t>Transfer authorised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22402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valid PIN, valid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9904" y="2066543"/>
            <a:ext cx="292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5C6B80"/>
                </a:solidFill>
                <a:latin typeface="Arial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691640"/>
            <a:ext cx="2514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47104" y="18470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2433"/>
                </a:solidFill>
                <a:latin typeface="Arial"/>
              </a:rPr>
              <a:t>Funds cleared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2402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irreversible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2066543"/>
            <a:ext cx="29260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i="0">
                <a:solidFill>
                  <a:srgbClr val="5C6B80"/>
                </a:solidFill>
                <a:latin typeface="Arial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34856" y="1691640"/>
            <a:ext cx="25146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1847088"/>
            <a:ext cx="2148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A2433"/>
                </a:solidFill>
                <a:latin typeface="Arial"/>
              </a:rPr>
              <a:t>Bank / family notice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2240280"/>
            <a:ext cx="2148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too late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127248"/>
            <a:ext cx="1051560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264408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C2626"/>
                </a:solidFill>
                <a:latin typeface="Arial"/>
              </a:rPr>
              <a:t>The only effective intervention point is the few seconds BEFORE authorisation.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977639"/>
            <a:ext cx="3291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1605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433"/>
                </a:solidFill>
                <a:latin typeface="Arial"/>
              </a:rPr>
              <a:t>It looks normal to the bank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4553712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Valid credentials, valid device, correct PIN. Nothing in the payment itself is anomalous.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3977639"/>
            <a:ext cx="3291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17720" y="41605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433"/>
                </a:solidFill>
                <a:latin typeface="Arial"/>
              </a:rPr>
              <a:t>Existing systems target card fraud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553712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They detect misuse after the fact. They are not built for a customer being talked into paying right now.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3977639"/>
            <a:ext cx="3291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79" y="416052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433"/>
                </a:solidFill>
                <a:latin typeface="Arial"/>
              </a:rPr>
              <a:t>The family is never involved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553712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The people who could actually stop it — the adult children — have no way in.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Real-Time Transfer Scam Guard  ·  Chinese Can Fly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419088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563EB"/>
                </a:solidFill>
                <a:latin typeface="Arial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2433"/>
                </a:solidFill>
                <a:latin typeface="Arial"/>
              </a:rPr>
              <a:t>Three outcomes, decided in the authorisation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3291840" cy="251460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8288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6A34A"/>
                </a:solidFill>
                <a:latin typeface="Arial"/>
              </a:rPr>
              <a:t>APPROVE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304288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433"/>
                </a:solidFill>
                <a:latin typeface="Arial"/>
              </a:rPr>
              <a:t>Release immediately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880360"/>
            <a:ext cx="2788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Risk below 0.55.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No friction added to normal payments.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645920"/>
            <a:ext cx="3291840" cy="251460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18288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97706"/>
                </a:solidFill>
                <a:latin typeface="Arial"/>
              </a:rPr>
              <a:t>CONFIRM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2304288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433"/>
                </a:solidFill>
                <a:latin typeface="Arial"/>
              </a:rPr>
              <a:t>Pause · message the holder · alert the family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880360"/>
            <a:ext cx="2788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Risk 0.55–0.95.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The holder gets plain language.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If the amount exceeds the guardian limit,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a linked relative is alerted too.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1645920"/>
            <a:ext cx="3291840" cy="25146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1" y="1828800"/>
            <a:ext cx="2743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DC2626"/>
                </a:solidFill>
                <a:latin typeface="Arial"/>
              </a:rPr>
              <a:t>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1" y="2304288"/>
            <a:ext cx="2788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A2433"/>
                </a:solidFill>
                <a:latin typeface="Arial"/>
              </a:rPr>
              <a:t>Hold and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1" y="2880360"/>
            <a:ext cx="27889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Risk above 0.95.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Transfer held; an auditable record is written</a:t>
            </a:r>
          </a:p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with reason codes.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70832"/>
            <a:ext cx="105156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5262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3AED"/>
                </a:solidFill>
                <a:latin typeface="Arial"/>
              </a:rPr>
              <a:t>The part nobody else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73752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433"/>
                </a:solidFill>
                <a:latin typeface="Arial"/>
              </a:rPr>
              <a:t>CONFIRM is not just a block. It recruits the one person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433"/>
                </a:solidFill>
                <a:latin typeface="Arial"/>
              </a:rPr>
              <a:t>who can actually stop the scam: the family.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526280"/>
            <a:ext cx="4846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C3AED"/>
                </a:solidFill>
                <a:latin typeface="Arial"/>
              </a:rPr>
              <a:t>Every decision is auditable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873752"/>
            <a:ext cx="48463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433"/>
                </a:solidFill>
                <a:latin typeface="Arial"/>
              </a:rPr>
              <a:t>Nine reason codes (R01–R09) travel with each decision,</a:t>
            </a:r>
          </a:p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2433"/>
                </a:solidFill>
                <a:latin typeface="Arial"/>
              </a:rPr>
              <a:t>so a case can be reviewed and the model audited later.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Real-Time Transfer Scam Guard  ·  Chinese Can Fly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563EB"/>
                </a:solidFill>
                <a:latin typeface="Arial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2433"/>
                </a:solidFill>
                <a:latin typeface="Arial"/>
              </a:rPr>
              <a:t>Two models, one decision, ~22 ms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1328"/>
            <a:ext cx="11201400" cy="6343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14476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C6B80"/>
                </a:solidFill>
                <a:latin typeface="Arial"/>
              </a:rPr>
              <a:t>Decision and explanation are decoupled: the decision returns in ~22 ms, while IBM Granite explains asynchronously.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Real-Time Transfer Scam Guard  ·  Chinese Can 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563EB"/>
                </a:solidFill>
                <a:latin typeface="Arial"/>
              </a:rPr>
              <a:t>THE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2433"/>
                </a:solidFill>
                <a:latin typeface="Arial"/>
              </a:rPr>
              <a:t>This is the screen, running on LinuxONE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371600"/>
            <a:ext cx="9022080" cy="5074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5C6B80"/>
                </a:solidFill>
                <a:latin typeface="Arial"/>
              </a:rPr>
              <a:t>Every row is a live decision. Right lane: the plain-language message the holder sees, and the alert the linked relative receives.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Real-Time Transfer Scam Guard  ·  Chinese Can Fly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19088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C3AED"/>
                </a:solidFill>
                <a:latin typeface="Arial"/>
              </a:rPr>
              <a:t>WHY IBM Z / LINUXONE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2433"/>
                </a:solidFill>
                <a:latin typeface="Arial"/>
              </a:rPr>
              <a:t>Not an x86 app ported 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91640"/>
            <a:ext cx="5120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928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C3AED"/>
                </a:solidFill>
                <a:latin typeface="Arial"/>
              </a:rPr>
              <a:t>Telum on-chip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50008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Both models and the Granite LLM run on the same processor.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The accelerator sits on-die, not behind a GPU bus — which is why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the decision stays fast even while the LLM generates.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120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9280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C3AED"/>
                </a:solidFill>
                <a:latin typeface="Arial"/>
              </a:rPr>
              <a:t>Pervasive encryption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50008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Data encrypted at rest and in transit by the platform,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quantum-safe. Scam detection must read sensitive transfer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and identity context, so this is a prerequisite.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840480"/>
            <a:ext cx="5120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0416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C3AED"/>
                </a:solidFill>
                <a:latin typeface="Arial"/>
              </a:rPr>
              <a:t>Data never leaves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98848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Granite is served locally by llama.cpp with the zDNN/NNPA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backend. No external API calls. No customer data leaves the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enterprise perimeter.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3840480"/>
            <a:ext cx="512064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041648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C3AED"/>
                </a:solidFill>
                <a:latin typeface="Arial"/>
              </a:rPr>
              <a:t>Container native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498848"/>
            <a:ext cx="4572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Shipped as a Docker image built on IBM's s390x AI/ML base image.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One command to deploy; health-checked and restart-safe.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Real-Time Transfer Scam Guard  ·  Chinese Can Fly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6A34A"/>
                </a:solidFill>
                <a:latin typeface="Arial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2433"/>
                </a:solidFill>
                <a:latin typeface="Arial"/>
              </a:rPr>
              <a:t>Measured on the LinuxONE instance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810512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Arial"/>
              </a:rPr>
              <a:t>65.2 %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39572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0"/>
                </a:solidFill>
                <a:latin typeface="Arial"/>
              </a:rPr>
              <a:t>fraud recall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64592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8" y="1810512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6A34A"/>
                </a:solidFill>
                <a:latin typeface="Arial"/>
              </a:rPr>
              <a:t>96.7 %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239572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0"/>
                </a:solidFill>
                <a:latin typeface="Arial"/>
              </a:rPr>
              <a:t>precision on stops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64592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810512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563EB"/>
                </a:solidFill>
                <a:latin typeface="Arial"/>
              </a:rPr>
              <a:t>22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239572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0"/>
                </a:solidFill>
                <a:latin typeface="Arial"/>
              </a:rPr>
              <a:t>median decision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645920"/>
            <a:ext cx="24688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810512"/>
            <a:ext cx="2103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D97706"/>
                </a:solidFill>
                <a:latin typeface="Arial"/>
              </a:rPr>
              <a:t>$18,418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16568" y="2395728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5C6B80"/>
                </a:solidFill>
                <a:latin typeface="Arial"/>
              </a:rPr>
              <a:t>amount recovered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127248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433"/>
                </a:solidFill>
                <a:latin typeface="Arial"/>
              </a:rPr>
              <a:t>Offline model quality  (held-out test, 0.11 % positives)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822960" y="352044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433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433"/>
                          </a:solidFill>
                          <a:latin typeface="Arial"/>
                        </a:rPr>
                        <a:t>PR-AUC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433"/>
                          </a:solidFill>
                          <a:latin typeface="Arial"/>
                        </a:rPr>
                        <a:t>ROC-AUC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433"/>
                          </a:solidFill>
                          <a:latin typeface="Arial"/>
                        </a:rPr>
                        <a:t>Best F1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C6B80"/>
                          </a:solidFill>
                          <a:latin typeface="Arial"/>
                        </a:rPr>
                        <a:t>LSTM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C6B80"/>
                          </a:solidFill>
                          <a:latin typeface="Arial"/>
                        </a:rPr>
                        <a:t>0.3829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C6B80"/>
                          </a:solidFill>
                          <a:latin typeface="Arial"/>
                        </a:rPr>
                        <a:t>0.9293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C6B80"/>
                          </a:solidFill>
                          <a:latin typeface="Arial"/>
                        </a:rPr>
                        <a:t>0.478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C6B80"/>
                          </a:solidFill>
                          <a:latin typeface="Arial"/>
                        </a:rPr>
                        <a:t>XGBoost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C6B80"/>
                          </a:solidFill>
                          <a:latin typeface="Arial"/>
                        </a:rPr>
                        <a:t>0.0765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C6B80"/>
                          </a:solidFill>
                          <a:latin typeface="Arial"/>
                        </a:rPr>
                        <a:t>0.9411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C6B80"/>
                          </a:solidFill>
                          <a:latin typeface="Arial"/>
                        </a:rPr>
                        <a:t>0.161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433"/>
                          </a:solidFill>
                          <a:latin typeface="Arial"/>
                        </a:rPr>
                        <a:t>Fusion (0.85 / 0.15)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433"/>
                          </a:solidFill>
                          <a:latin typeface="Arial"/>
                        </a:rPr>
                        <a:t>0.4277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433"/>
                          </a:solidFill>
                          <a:latin typeface="Arial"/>
                        </a:rPr>
                        <a:t>0.9654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A2433"/>
                          </a:solidFill>
                          <a:latin typeface="Arial"/>
                        </a:rPr>
                        <a:t>0.506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675120" y="312724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A2433"/>
                </a:solidFill>
                <a:latin typeface="Arial"/>
              </a:rPr>
              <a:t>Why 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520440"/>
            <a:ext cx="4663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Every single model leaves money on the table: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/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· XGBoost alone catches few frauds at usable precision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· LSTM alone misses structured signals such as amount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  versus the account's own history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· The fusion beats both on PR-AUC and on F1, which is</a:t>
            </a:r>
          </a:p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5C6B80"/>
                </a:solidFill>
                <a:latin typeface="Arial"/>
              </a:rPr>
              <a:t>  exactly why two frameworks are used rather than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C6B80"/>
                </a:solidFill>
                <a:latin typeface="Arial"/>
              </a:rPr>
              <a:t>587 replayed transfers (single reproducible pass)  ·  3 vCPU + 1 AI accelerator  ·  587-transfer curated stream including 271 labelled frauds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Real-Time Transfer Scam Guard  ·  Chinese Can Fly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D97706"/>
                </a:solidFill>
                <a:latin typeface="Arial"/>
              </a:rPr>
              <a:t>WHO BENEFITS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2433"/>
                </a:solidFill>
                <a:latin typeface="Arial"/>
              </a:rPr>
              <a:t>Four audiences, in order of directness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64208"/>
            <a:ext cx="105156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883664"/>
            <a:ext cx="384048" cy="3840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47672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1810512"/>
            <a:ext cx="9418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433"/>
                </a:solidFill>
                <a:latin typeface="Arial"/>
              </a:rPr>
              <a:t>Older adults targeted by scams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2139696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They act alone and often cannot stop themselves in time. The system pauses the transfer and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offers a plain way to say "I am not sure" instead of losing their savings.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788920"/>
            <a:ext cx="105156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3008376"/>
            <a:ext cx="384048" cy="3840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072384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2935224"/>
            <a:ext cx="9418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433"/>
                </a:solidFill>
                <a:latin typeface="Arial"/>
              </a:rPr>
              <a:t>Adult children living 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3264408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They cannot watch every transfer. They set a guardian limit and get an actionable alert,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turning distant worry into a decision they can make from their phone.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913632"/>
            <a:ext cx="105156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4133088"/>
            <a:ext cx="384048" cy="3840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97096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4059936"/>
            <a:ext cx="9418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433"/>
                </a:solidFill>
                <a:latin typeface="Arial"/>
              </a:rPr>
              <a:t>Banks and payment providers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27632" y="4389120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Fewer scam losses and complaints, plus a defensible audit record for regulators. The engine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sits in the authorisation path, so it cuts loss without slowing genuine payments.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038344"/>
            <a:ext cx="1051560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5257800"/>
            <a:ext cx="384048" cy="38404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5321807"/>
            <a:ext cx="38404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5184648"/>
            <a:ext cx="94183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A2433"/>
                </a:solidFill>
                <a:latin typeface="Arial"/>
              </a:rPr>
              <a:t>Anti-fraud teams and regulators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7632" y="5513831"/>
            <a:ext cx="9418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Every decision carries reason codes. Cases can be reviewed later and the model audited</a:t>
            </a:r>
          </a:p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C6B80"/>
                </a:solidFill>
                <a:latin typeface="Arial"/>
              </a:rPr>
              <a:t>over time — a requirement in most regulated markets.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Real-Time Transfer Scam Guard  ·  Chinese Can Fly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19088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82296" cy="475488"/>
          </a:xfrm>
          <a:prstGeom prst="rect">
            <a:avLst/>
          </a:prstGeom>
          <a:solidFill>
            <a:srgbClr val="5C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0292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5C6B80"/>
                </a:solidFill>
                <a:latin typeface="Arial"/>
              </a:rPr>
              <a:t>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749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1A2433"/>
                </a:solidFill>
                <a:latin typeface="Arial"/>
              </a:rPr>
              <a:t>What this prototype is — and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5120640" cy="3337560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1051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6A34A"/>
                </a:solidFill>
                <a:latin typeface="Arial"/>
              </a:rP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Streams transfers and scores each one in ~22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51760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Three-way decision with reason codes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090672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Plain-language message for the 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9584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Guardian alert when the limit is exceeded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96849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Fully containerised, runs on LinuxONE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07408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Granite explanations generated locally, no API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645920"/>
            <a:ext cx="5120640" cy="3337560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81051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D97706"/>
                </a:solidFill>
                <a:latin typeface="Arial"/>
              </a:rPr>
              <a:t>What it does not do (yet)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12848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No live bank core integration — the stream is historical replay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Guardian notification is simulated, not a real SMS gateway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90672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No production load testing at peak volume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529584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Age and guardian fields are a synthetic scenario overlay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968496"/>
            <a:ext cx="45720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1A2433"/>
                </a:solidFill>
                <a:latin typeface="Arial"/>
              </a:rPr>
              <a:t>·  onnxruntime has no s390x wheel, so ONNX is export-only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533095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730A3"/>
                </a:solidFill>
                <a:latin typeface="Arial"/>
              </a:rPr>
              <a:t>Next 30 days: swap the replay for the bank's authorisation feed, connect a real notification provider, and run IEEE-CIS + PaySim as the production corpus with time-drift and fairness checks.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19088"/>
            <a:ext cx="7315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Real-Time Transfer Scam Guard  ·  Chinese Can Fly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0" y="6419088"/>
            <a:ext cx="914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C6B80"/>
                </a:solidFill>
                <a:latin typeface="Arial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